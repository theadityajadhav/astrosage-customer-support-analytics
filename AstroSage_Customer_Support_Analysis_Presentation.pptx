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4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3" r:id="rId8"/>
    <p:sldId id="264" r:id="rId9"/>
    <p:sldId id="261" r:id="rId10"/>
    <p:sldId id="26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07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404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956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3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98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9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16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65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3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2462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65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2499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97312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45034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F1133-3259-4C45-BABA-5B62D9C6F78D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67422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301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096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1CF1133-3259-4C45-BABA-5B62D9C6F78D}" type="datetimeFigureOut">
              <a:rPr lang="en-US" smtClean="0"/>
              <a:t>9/6/26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1127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5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801" r:id="rId7"/>
    <p:sldLayoutId id="2147483802" r:id="rId8"/>
    <p:sldLayoutId id="2147483803" r:id="rId9"/>
    <p:sldLayoutId id="2147483804" r:id="rId10"/>
    <p:sldLayoutId id="2147483805" r:id="rId11"/>
    <p:sldLayoutId id="2147483806" r:id="rId12"/>
    <p:sldLayoutId id="2147483807" r:id="rId13"/>
    <p:sldLayoutId id="2147483808" r:id="rId14"/>
    <p:sldLayoutId id="2147483809" r:id="rId15"/>
    <p:sldLayoutId id="2147483810" r:id="rId16"/>
    <p:sldLayoutId id="214748381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55705"/>
            <a:ext cx="12192000" cy="72914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" y="1350799"/>
            <a:ext cx="9144000" cy="368172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Data to Improve Efficiency, Customer Satisfaction &amp;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20" y="527890"/>
            <a:ext cx="119938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AstroSage Call Center Optimization &amp; Performance Analysis</a:t>
            </a:r>
            <a:endParaRPr lang="en-US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674" y="2050868"/>
            <a:ext cx="7155325" cy="48071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8120" y="2050868"/>
            <a:ext cx="4099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Name: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Aditya Avinash Jadhav</a:t>
            </a:r>
          </a:p>
        </p:txBody>
      </p:sp>
    </p:spTree>
    <p:extLst>
      <p:ext uri="{BB962C8B-B14F-4D97-AF65-F5344CB8AC3E}">
        <p14:creationId xmlns:p14="http://schemas.microsoft.com/office/powerpoint/2010/main" val="291944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" y="478844"/>
            <a:ext cx="5734595" cy="6668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534487"/>
            <a:ext cx="3912826" cy="553122"/>
          </a:xfrm>
        </p:spPr>
        <p:txBody>
          <a:bodyPr/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PROBLEM STATEMENT</a:t>
            </a:r>
            <a:endParaRPr lang="en-US" sz="32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582655"/>
            <a:ext cx="9404723" cy="4195481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AstroSage has received an investment of ₹1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crore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wants to improve its call center operations. The key challenge is to decide how this investment should be allocated effectively.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company aims to: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Improve operational efficiency.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Enhance customer satisfaction. 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Increase overall profitability.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address this, we analyzed historical call data, performance metrics, and trends using Excel and created a dashboard to support better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39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" y="466455"/>
            <a:ext cx="6544490" cy="6668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171" y="518230"/>
            <a:ext cx="5881692" cy="563290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INTRODUCTION AND OBJECTIVES</a:t>
            </a:r>
            <a:endParaRPr lang="en-US" sz="2800" b="1" dirty="0">
              <a:ln w="0"/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2171" y="1263924"/>
            <a:ext cx="10558195" cy="4627426"/>
          </a:xfrm>
        </p:spPr>
        <p:txBody>
          <a:bodyPr>
            <a:noAutofit/>
          </a:bodyPr>
          <a:lstStyle/>
          <a:p>
            <a:pPr marL="0" indent="0" algn="just">
              <a:lnSpc>
                <a:spcPct val="30000"/>
              </a:lnSpc>
              <a:buNone/>
            </a:pPr>
            <a:endParaRPr lang="en-US" sz="24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 today’s service-based industry, call centers play a critical role in customer experience and business growth. Even small inefficiencies can impact customer satisfaction and overall profitability.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AstroSage, after receiving an investment of ₹1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crore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, needs to make the right decisions on how to utilize these resources effectively.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 main objective of this project is to analyze call center data and: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Understand operational performance and call trends.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Evaluate agent efficiency and workload distribution.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Analyze customer satisfaction through ratings. 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Identify revenue and cost patterns. 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Provide data-driven recommendations for better decision-making.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14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64885"/>
            <a:ext cx="12192000" cy="6668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386" y="238330"/>
            <a:ext cx="3216728" cy="523149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0142" y="866614"/>
            <a:ext cx="11146973" cy="6035038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dataset contains historical call center data from AstroSage 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Key fields include: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Call duration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Call status (completed, missed, etc.)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Agent performance details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 ratings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Revenue generated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Operational cost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Cleaning Steps: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Removed missing or inconsistent values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Formatted date and time columns properly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Ensured all numerical values (revenue, duration, cost) were accurate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data is important because it helps in: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Understanding call center performance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Identifying trends and patterns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Making data-driven decisions for investment allocation</a:t>
            </a:r>
          </a:p>
          <a:p>
            <a:pPr mar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36279" y="499738"/>
            <a:ext cx="39471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📞 Calls   👤 Users   ⭐ Ratings   💰 Revenue </a:t>
            </a:r>
          </a:p>
        </p:txBody>
      </p:sp>
    </p:spTree>
    <p:extLst>
      <p:ext uri="{BB962C8B-B14F-4D97-AF65-F5344CB8AC3E}">
        <p14:creationId xmlns:p14="http://schemas.microsoft.com/office/powerpoint/2010/main" val="2054238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0" y="325937"/>
            <a:ext cx="3814354" cy="58846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133" y="351428"/>
            <a:ext cx="3172097" cy="588464"/>
          </a:xfrm>
        </p:spPr>
        <p:txBody>
          <a:bodyPr>
            <a:norm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133" y="1190964"/>
            <a:ext cx="4778829" cy="202815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Data Preparation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Reviewed dataset for missing values and inconsistencies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Standardized date, time, and key fields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Prepared structured data for analysis</a:t>
            </a:r>
          </a:p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6413862" y="1190964"/>
            <a:ext cx="5316584" cy="20108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Analysis Performed</a:t>
            </a:r>
            <a:endParaRPr lang="en-US" sz="2400" b="1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2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Trend analysis for call volume (hourly, daily, monthly)</a:t>
            </a:r>
          </a:p>
          <a:p>
            <a:pPr marL="342900" indent="-342900">
              <a:spcAft>
                <a:spcPts val="2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Agent performance and workload analysis</a:t>
            </a:r>
          </a:p>
          <a:p>
            <a:pPr marL="342900" indent="-342900">
              <a:spcAft>
                <a:spcPts val="2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Customer satisfaction analysis using ratings</a:t>
            </a:r>
          </a:p>
          <a:p>
            <a:pPr marL="342900" indent="-342900">
              <a:spcAft>
                <a:spcPts val="200"/>
              </a:spcAft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Revenue and cost pattern analysis</a:t>
            </a:r>
          </a:p>
          <a:p>
            <a:pPr>
              <a:lnSpc>
                <a:spcPct val="150000"/>
              </a:lnSpc>
              <a:buSzPct val="80000"/>
            </a:pPr>
            <a:endParaRPr lang="en-US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81800" y="4446228"/>
            <a:ext cx="4898571" cy="1508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Tools &amp; Features Used</a:t>
            </a: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Pivot Tables &amp; Charts</a:t>
            </a: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Excel formulas (SUM, AVERAGE, COUNTIF)</a:t>
            </a: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Slicers and dashboard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573" y="4451085"/>
            <a:ext cx="5068394" cy="15081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 Development</a:t>
            </a: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Created interactive dashboard for visualization</a:t>
            </a: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Designed KPI cards (calls, revenue, ratings, cost)</a:t>
            </a:r>
          </a:p>
          <a:p>
            <a:pPr marL="342900" indent="-342900">
              <a:lnSpc>
                <a:spcPct val="150000"/>
              </a:lnSpc>
              <a:buSzPct val="80000"/>
              <a:buFont typeface="Wingdings" panose="05000000000000000000" pitchFamily="2" charset="2"/>
              <a:buChar char="§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Added filters and charts for better insights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5308959" y="2063931"/>
            <a:ext cx="1104903" cy="49638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9026434" y="3206484"/>
            <a:ext cx="509452" cy="1213619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Left Arrow 13"/>
          <p:cNvSpPr/>
          <p:nvPr/>
        </p:nvSpPr>
        <p:spPr>
          <a:xfrm>
            <a:off x="5603967" y="4963881"/>
            <a:ext cx="1177832" cy="444137"/>
          </a:xfrm>
          <a:prstGeom prst="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65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91884"/>
            <a:ext cx="6818810" cy="61395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947" y="391884"/>
            <a:ext cx="6032863" cy="613955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CALL VOLUME &amp; TREND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5948" y="4985975"/>
            <a:ext cx="6032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Call volume fluctuates across different days.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Certain days show peak customer activity.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Low-volume periods indicate underutilization.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Helps in better workforce planning.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947" y="1160054"/>
            <a:ext cx="4009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Name: Daily Call Volume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204" y="1714379"/>
            <a:ext cx="8516539" cy="305356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3336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65760"/>
            <a:ext cx="6662057" cy="7184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797" y="411479"/>
            <a:ext cx="6092260" cy="627017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ANALYSIS OF OPERATIONAL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9798" y="1240973"/>
            <a:ext cx="6092259" cy="48332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Chart Name: </a:t>
            </a:r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Operational Cost Distribution</a:t>
            </a:r>
            <a:endParaRPr lang="en-US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9797" y="4846323"/>
            <a:ext cx="71895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of the operational cost comes from call category (78%)</a:t>
            </a: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 channels contribute much less (22%)</a:t>
            </a: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Cost distribution is not balanced</a:t>
            </a: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may be because one service is used more frequently</a:t>
            </a: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usage can lead to higher operational expenses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40" y="1856361"/>
            <a:ext cx="5073206" cy="28578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5586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274320"/>
            <a:ext cx="6923314" cy="71528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754" y="378824"/>
            <a:ext cx="6228806" cy="535577"/>
          </a:xfrm>
        </p:spPr>
        <p:txBody>
          <a:bodyPr>
            <a:norm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PLATFORM-WISE CALL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7754" y="4621076"/>
            <a:ext cx="6708684" cy="2027918"/>
          </a:xfrm>
        </p:spPr>
        <p:txBody>
          <a:bodyPr>
            <a:no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Majority of calls are from one platform (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gurucool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App also contributes a noticeable number of calls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Dashboard has very low usage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Users seem to prefer one platform over others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could be due to better usability or accessibility</a:t>
            </a:r>
            <a:endParaRPr lang="en-US" sz="1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7754" y="1160224"/>
            <a:ext cx="5068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Name: Website Call Distribution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4" y="1730956"/>
            <a:ext cx="4831079" cy="26578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717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313507"/>
            <a:ext cx="6858000" cy="6662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755" y="352694"/>
            <a:ext cx="6450874" cy="666206"/>
          </a:xfrm>
        </p:spPr>
        <p:txBody>
          <a:bodyPr>
            <a:norm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AGENT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8384" y="5005332"/>
            <a:ext cx="6803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Some agents handled more calls than others.</a:t>
            </a:r>
          </a:p>
          <a:p>
            <a:pPr marL="342900" indent="-34290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few agents have noticeably higher numbers.</a:t>
            </a:r>
          </a:p>
          <a:p>
            <a:pPr marL="342900" indent="-34290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Some agents handled fewer calls.</a:t>
            </a:r>
          </a:p>
          <a:p>
            <a:pPr marL="342900" indent="-34290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Work is not equally distributed among agents.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37755" y="1091120"/>
            <a:ext cx="58594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Name: Calls/Chats handled by per Agent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84" y="1684629"/>
            <a:ext cx="6189616" cy="31094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8673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224947"/>
            <a:ext cx="7027817" cy="69296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766" y="299352"/>
            <a:ext cx="6766560" cy="692965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CUSTOMER SATISFACTION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144" y="4541236"/>
            <a:ext cx="589135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Rating 0 has the highest number of users</a:t>
            </a: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Ratings 2 and 3 are also quite high</a:t>
            </a: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Higher ratings (6–8) have fewer users</a:t>
            </a:r>
          </a:p>
          <a:p>
            <a:pPr marL="285750" indent="-285750"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Overall, most ratings are on the lower to middle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4766" y="1108017"/>
            <a:ext cx="6244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Name: Rating Distribution by User Records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31" y="1737360"/>
            <a:ext cx="6335485" cy="289995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13384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26571"/>
            <a:ext cx="10371909" cy="7184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345" y="378822"/>
            <a:ext cx="10337688" cy="613954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CONSULTATION TYPE CONTRIBUTION TO OVERALL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535" y="1265016"/>
            <a:ext cx="59482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Chart Name: Revenue by Consultation Type</a:t>
            </a:r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1935" y="4866302"/>
            <a:ext cx="808426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 consultations generate significantly higher revenue compared to chat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contributes much less despite having a good number of interactions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is heavily dependent on one service (calls)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shows that users prefer calls for </a:t>
            </a:r>
            <a:r>
              <a:rPr kumimoji="0" 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serious or paid consultations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may be used more for basic or initial queries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35" y="1912974"/>
            <a:ext cx="7818476" cy="295332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27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18012"/>
            <a:ext cx="9980023" cy="7184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6943" y="483327"/>
            <a:ext cx="9246326" cy="653142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ENHANCING AGENT EFFICIENCY AND PRODUCTIVITY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943" y="1747248"/>
            <a:ext cx="10233800" cy="3673838"/>
          </a:xfrm>
        </p:spPr>
        <p:txBody>
          <a:bodyPr>
            <a:normAutofit/>
          </a:bodyPr>
          <a:lstStyle/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Provide targeted training for low-performing agents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Based on performance analysis, some agents handle fewer calls or have lower efficiency.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Impact: Improves overall team productivity and consistency.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Standardize best practices from top-performing agents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Identify high performers and replicate their approach across the team.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Impact: Increases average calls handled per agent.</a:t>
            </a:r>
          </a:p>
          <a:p>
            <a:pPr algn="just"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1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Optimize workload distribution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Balance call allocation among agents to avoid under/over-utilization.</a:t>
            </a:r>
          </a:p>
          <a:p>
            <a:pPr lvl="1" algn="just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1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Impact: Reduces idle time and improves operational efficiency.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314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18012"/>
            <a:ext cx="9980023" cy="7184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691" y="470262"/>
            <a:ext cx="9089572" cy="613955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STRATEGIES TO ENHANCE CUSTOMER EXPERIENCE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24691" y="1460684"/>
            <a:ext cx="7640233" cy="355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Reduce call waiting time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High call volumes during peak hours may impact satisfaction.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Faster service leads to better customer experience.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 on quality of interaction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Moderate positive correlation between call duration and satisfaction (0.53)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Better conversations = higher satisfaction scores.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Identify and support low-rated agents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Some agents consistently receive lower satisfaction ratings.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Impact: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Improves overall customer feedback and retention.</a:t>
            </a:r>
          </a:p>
        </p:txBody>
      </p:sp>
    </p:spTree>
    <p:extLst>
      <p:ext uri="{BB962C8B-B14F-4D97-AF65-F5344CB8AC3E}">
        <p14:creationId xmlns:p14="http://schemas.microsoft.com/office/powerpoint/2010/main" val="55003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18012"/>
            <a:ext cx="9065623" cy="7184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439" y="509134"/>
            <a:ext cx="8763001" cy="536211"/>
          </a:xfrm>
        </p:spPr>
        <p:txBody>
          <a:bodyPr>
            <a:norm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DRIVING REVENUE AND CUSTOMER RETENTION</a:t>
            </a: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72439" y="1524441"/>
            <a:ext cx="7744868" cy="3509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high-revenue consultation types</a:t>
            </a:r>
            <a:endParaRPr lang="en-US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Certain consultation categories contribute more to total revenue.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Increases overall revenue and profitability.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repeat customers through loyalty strategies</a:t>
            </a:r>
            <a:endParaRPr lang="en-US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portion of users are repeat callers.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customer retention and lifetime value.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targeted marketing during peak months</a:t>
            </a:r>
            <a:endParaRPr lang="en-US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trends show fluctuations in demand.</a:t>
            </a:r>
            <a:endParaRPr lang="en-US" sz="16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Impact: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Maximizes revenue during high-demand periods.</a:t>
            </a:r>
          </a:p>
        </p:txBody>
      </p:sp>
    </p:spTree>
    <p:extLst>
      <p:ext uri="{BB962C8B-B14F-4D97-AF65-F5344CB8AC3E}">
        <p14:creationId xmlns:p14="http://schemas.microsoft.com/office/powerpoint/2010/main" val="1691067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/>
        </p:nvSpPr>
        <p:spPr>
          <a:xfrm>
            <a:off x="0" y="561826"/>
            <a:ext cx="8830491" cy="5747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0263" y="561826"/>
            <a:ext cx="7522028" cy="574766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CALL CENTER ANALYTICS &amp; VISUALIZATION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62" y="1470192"/>
            <a:ext cx="10628929" cy="481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405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97131" y="1372640"/>
            <a:ext cx="8342811" cy="40164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</a:rPr>
              <a:t>Centralized view of key performance metrics</a:t>
            </a:r>
            <a:endParaRPr lang="en-US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</a:rPr>
              <a:t>Displays KPIs like total calls, revenue, customer satisfaction, and operational cost. 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</a:rPr>
              <a:t>Trend analysis for data-driven decisions</a:t>
            </a:r>
            <a:endParaRPr lang="en-US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</a:rPr>
              <a:t>Visualizes hourly, daily, and monthly call patterns to identify peak periods.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</a:rPr>
              <a:t>Agent performance tracking</a:t>
            </a:r>
            <a:endParaRPr lang="en-US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</a:rPr>
              <a:t>Compares number of calls handled and efficiency across agents.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</a:rPr>
              <a:t>Revenue and consultation insights</a:t>
            </a:r>
            <a:endParaRPr lang="en-US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</a:rPr>
              <a:t>Highlights high-performing consultation types contributing to revenue.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</a:rPr>
              <a:t>Interactive filtering for deeper analysis</a:t>
            </a:r>
            <a:endParaRPr lang="en-US" dirty="0">
              <a:solidFill>
                <a:prstClr val="white"/>
              </a:solidFill>
              <a:latin typeface="Arial" panose="020B0604020202020204" pitchFamily="34" charset="0"/>
            </a:endParaRPr>
          </a:p>
          <a:p>
            <a:pPr marL="742950" lvl="1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prstClr val="white"/>
              </a:buClr>
              <a:buSzPct val="8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</a:rPr>
              <a:t>Enables dynamic exploration by call type, consultation type, and user behavior.</a:t>
            </a:r>
          </a:p>
        </p:txBody>
      </p:sp>
    </p:spTree>
    <p:extLst>
      <p:ext uri="{BB962C8B-B14F-4D97-AF65-F5344CB8AC3E}">
        <p14:creationId xmlns:p14="http://schemas.microsoft.com/office/powerpoint/2010/main" val="513550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522515"/>
            <a:ext cx="6048103" cy="61395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377" y="581297"/>
            <a:ext cx="5431972" cy="496389"/>
          </a:xfrm>
        </p:spPr>
        <p:txBody>
          <a:bodyPr>
            <a:noAutofit/>
          </a:bodyPr>
          <a:lstStyle/>
          <a:p>
            <a:r>
              <a:rPr lang="en-US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</a:rPr>
              <a:t>CONCLUSION &amp; KEY INSIGHTS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459377" y="1634161"/>
            <a:ext cx="7866256" cy="31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key patterns in call volume and peak demand periods</a:t>
            </a:r>
            <a:endParaRPr lang="en-US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better workforce planning and reduced wait times.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Highlighted variation in agent performance and efficiency</a:t>
            </a:r>
            <a:endParaRPr lang="en-US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targeted training and improved productivity.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Established link between service quality and customer satisfaction</a:t>
            </a:r>
            <a:endParaRPr lang="en-US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Emphasizes importance of interaction quality over speed alone.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q"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revenue distribution across consultation types</a:t>
            </a:r>
            <a:endParaRPr lang="en-US" sz="1800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prioritize high-value services for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1652466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2774</TotalTime>
  <Words>1075</Words>
  <Application>Microsoft Macintosh PowerPoint</Application>
  <PresentationFormat>Widescreen</PresentationFormat>
  <Paragraphs>148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Century Gothic</vt:lpstr>
      <vt:lpstr>Wingdings</vt:lpstr>
      <vt:lpstr>Wingdings 3</vt:lpstr>
      <vt:lpstr>Ion</vt:lpstr>
      <vt:lpstr>PowerPoint Presentation</vt:lpstr>
      <vt:lpstr>PROBLEM STATEMENT</vt:lpstr>
      <vt:lpstr>INTRODUCTION AND OBJECTIVES</vt:lpstr>
      <vt:lpstr>DATA OVERVIEW</vt:lpstr>
      <vt:lpstr>METHODOLOGY</vt:lpstr>
      <vt:lpstr>CALL VOLUME &amp; TREND ANALYSIS</vt:lpstr>
      <vt:lpstr>ANALYSIS OF OPERATIONAL COST</vt:lpstr>
      <vt:lpstr>PLATFORM-WISE CALL ANALYSIS</vt:lpstr>
      <vt:lpstr>AGENT PERFORMANCE ANALYSIS</vt:lpstr>
      <vt:lpstr>CUSTOMER SATISFACTION ANALYSIS</vt:lpstr>
      <vt:lpstr>CONSULTATION TYPE CONTRIBUTION TO OVERALL REVENUE</vt:lpstr>
      <vt:lpstr>ENHANCING AGENT EFFICIENCY AND PRODUCTIVITY</vt:lpstr>
      <vt:lpstr>STRATEGIES TO ENHANCE CUSTOMER EXPERIENCE</vt:lpstr>
      <vt:lpstr>DRIVING REVENUE AND CUSTOMER RETENTION</vt:lpstr>
      <vt:lpstr>CALL CENTER ANALYTICS &amp; VISUALIZATION</vt:lpstr>
      <vt:lpstr>PowerPoint Presentation</vt:lpstr>
      <vt:lpstr>CONCLUSION &amp; KEY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Office User</cp:lastModifiedBy>
  <cp:revision>86</cp:revision>
  <dcterms:created xsi:type="dcterms:W3CDTF">2026-05-31T13:52:15Z</dcterms:created>
  <dcterms:modified xsi:type="dcterms:W3CDTF">2026-09-06T12:54:27Z</dcterms:modified>
</cp:coreProperties>
</file>